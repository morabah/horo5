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HORO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 What You Mean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Briefing for Stakeholders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645920" cy="54864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2.3  •  March 2026  •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HORO Egypt?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wearable-illustration brand turning original digital artwork into identity-led t-shirts — organized by themes that matter — for urban Egyptian young adults (18–35).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23160"/>
            <a:ext cx="1874520" cy="54864"/>
          </a:xfrm>
          <a:prstGeom prst="rect">
            <a:avLst/>
          </a:prstGeom>
          <a:solidFill>
            <a:srgbClr val="6B4C8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is crafted by digital illustrators — no licensed or recycled graphics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242316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2423160"/>
            <a:ext cx="1874520" cy="54864"/>
          </a:xfrm>
          <a:prstGeom prst="rect">
            <a:avLst/>
          </a:prstGeom>
          <a:solidFill>
            <a:srgbClr val="2B7596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Meaning-Led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organized by Vibes and Occasions that resonate with identity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423160"/>
            <a:ext cx="1874520" cy="54864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Price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Premium-mid band (799 EGP) — above commodity, below luxury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42316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2423160"/>
            <a:ext cx="1874520" cy="54864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social-led discovery and mobile shopping behaviors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85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 What You Mean</a:t>
            </a:r>
            <a:pPr indent="0" marL="0">
              <a:buNone/>
            </a:pPr>
            <a:r>
              <a:rPr lang="en-US" sz="6000" dirty="0">
                <a:solidFill>
                  <a:srgbClr val="E85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4-word mantra is the brand's daily decision-making filter.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design, post, and checkout screen must pass this test.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64592" cy="164592"/>
          </a:xfrm>
          <a:prstGeom prst="ellipse">
            <a:avLst/>
          </a:prstGeom>
          <a:solidFill>
            <a:srgbClr val="6B4C8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Over Decoration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127248"/>
            <a:ext cx="164592" cy="164592"/>
          </a:xfrm>
          <a:prstGeom prst="ellipse">
            <a:avLst/>
          </a:prstGeom>
          <a:solidFill>
            <a:srgbClr val="2B759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35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Artist Creates, The Wearer Completes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602736"/>
            <a:ext cx="164592" cy="164592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112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Premium, Not Cheap Aspiration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078224"/>
            <a:ext cx="164592" cy="164592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9867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Culturally Rooted, Never Boxed In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553712"/>
            <a:ext cx="164592" cy="164592"/>
          </a:xfrm>
          <a:prstGeom prst="ellipse">
            <a:avLst/>
          </a:prstGeom>
          <a:solidFill>
            <a:srgbClr val="3A4A3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462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Belonging Builds Memory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Wears HORO?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64008" cy="132588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18–35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463040"/>
            <a:ext cx="64008" cy="1325880"/>
          </a:xfrm>
          <a:prstGeom prst="rect">
            <a:avLst/>
          </a:prstGeom>
          <a:solidFill>
            <a:srgbClr val="2B7596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600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Urban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CAIRO-LED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463040"/>
            <a:ext cx="64008" cy="1325880"/>
          </a:xfrm>
          <a:prstGeom prst="rect">
            <a:avLst/>
          </a:prstGeom>
          <a:solidFill>
            <a:srgbClr val="6B4C8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600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DISCOVERY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971800"/>
            <a:ext cx="64008" cy="132588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ANCHOR PRICE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97180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2971800"/>
            <a:ext cx="64008" cy="1325880"/>
          </a:xfrm>
          <a:prstGeom prst="rect">
            <a:avLst/>
          </a:prstGeom>
          <a:solidFill>
            <a:srgbClr val="3A4A3F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6118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SHOPPING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64008" cy="1325880"/>
          </a:xfrm>
          <a:prstGeom prst="rect">
            <a:avLst/>
          </a:prstGeom>
          <a:solidFill>
            <a:srgbClr val="81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EN/AR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3550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Priority Personas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560320" cy="54864"/>
          </a:xfrm>
          <a:prstGeom prst="rect">
            <a:avLst/>
          </a:prstGeom>
          <a:solidFill>
            <a:srgbClr val="6B4C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Self-Expression Buyer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looks like me"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</a:rPr>
              <a:t>Willingness to pay: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650–950 EGP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</a:rPr>
              <a:t>Entry point: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Shop by Vibe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463040"/>
            <a:ext cx="2560320" cy="54864"/>
          </a:xfrm>
          <a:prstGeom prst="rect">
            <a:avLst/>
          </a:prstGeom>
          <a:solidFill>
            <a:srgbClr val="E859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916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Buyer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204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"Give something meaningful"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2044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</a:rPr>
              <a:t>Willingness to pay: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700–1,300 EGP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204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</a:rPr>
              <a:t>Entry point: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Shop by Occasion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463040"/>
            <a:ext cx="2560320" cy="54864"/>
          </a:xfrm>
          <a:prstGeom prst="rect">
            <a:avLst/>
          </a:prstGeom>
          <a:solidFill>
            <a:srgbClr val="2B759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Lover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636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appreciate real illustration"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6364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</a:rPr>
              <a:t>Willingness to pay: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900–1,550+ EGP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2636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</a:rPr>
              <a:t>Entry point: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Product Page + Artist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System &amp; Glassmorphism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35608"/>
            <a:ext cx="329184" cy="329184"/>
          </a:xfrm>
          <a:prstGeom prst="ellipse">
            <a:avLst/>
          </a:prstGeom>
          <a:solidFill>
            <a:srgbClr val="F5F0E8"/>
          </a:solidFill>
          <a:ln w="12700">
            <a:solidFill>
              <a:srgbClr val="D4CF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Papyrus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Background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56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Sections / Headlines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329184" cy="329184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951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2951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 &amp; Accent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52344"/>
            <a:ext cx="329184" cy="329184"/>
          </a:xfrm>
          <a:prstGeom prst="ellipse">
            <a:avLst/>
          </a:prstGeom>
          <a:solidFill>
            <a:srgbClr val="2B75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7340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7340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Info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91256"/>
            <a:ext cx="329184" cy="329184"/>
          </a:xfrm>
          <a:prstGeom prst="ellipse">
            <a:avLst/>
          </a:prstGeom>
          <a:solidFill>
            <a:srgbClr val="6B4C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Dusk Violet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Themes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30168"/>
            <a:ext cx="329184" cy="329184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 Gold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&amp; Featured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329184" cy="329184"/>
          </a:xfrm>
          <a:prstGeom prst="ellipse">
            <a:avLst/>
          </a:prstGeom>
          <a:solidFill>
            <a:srgbClr val="81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050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Earth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&amp; Meta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507992"/>
            <a:ext cx="329184" cy="329184"/>
          </a:xfrm>
          <a:prstGeom prst="ellipse">
            <a:avLst/>
          </a:prstGeom>
          <a:solidFill>
            <a:srgbClr val="2C2A26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4897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Charcoal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4489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1417320"/>
            <a:ext cx="3657600" cy="3291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Layer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0" y="2011680"/>
            <a:ext cx="3108960" cy="411480"/>
          </a:xfrm>
          <a:prstGeom prst="rect">
            <a:avLst/>
          </a:prstGeom>
          <a:solidFill>
            <a:srgbClr val="F8F6F2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20299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White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22128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cards, nav, modals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2514600"/>
            <a:ext cx="3108960" cy="411480"/>
          </a:xfrm>
          <a:prstGeom prst="rect">
            <a:avLst/>
          </a:prstGeom>
          <a:solidFill>
            <a:srgbClr val="E3EFF5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25328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 Blue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40680" y="27157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badges, info panels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03520" y="3017520"/>
            <a:ext cx="3108960" cy="411480"/>
          </a:xfrm>
          <a:prstGeom prst="rect">
            <a:avLst/>
          </a:prstGeom>
          <a:solidFill>
            <a:srgbClr val="EDE5F5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40680" y="3035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Violet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32186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content, story cards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03520" y="3520440"/>
            <a:ext cx="3108960" cy="411480"/>
          </a:xfrm>
          <a:prstGeom prst="rect">
            <a:avLst/>
          </a:prstGeom>
          <a:solidFill>
            <a:srgbClr val="FFF5E6">
              <a:alpha val="2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3538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Glow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0680" y="3721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cards, quotes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03520" y="4023360"/>
            <a:ext cx="3108960" cy="411480"/>
          </a:xfrm>
          <a:prstGeom prst="rect">
            <a:avLst/>
          </a:prstGeom>
          <a:solidFill>
            <a:srgbClr val="E6F5EF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440680" y="4041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Frost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40680" y="4224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states, 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NAVIGATION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by Vibe — 5 Worlds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554480" cy="2926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1554480" cy="73152"/>
          </a:xfrm>
          <a:prstGeom prst="rect">
            <a:avLst/>
          </a:prstGeom>
          <a:solidFill>
            <a:srgbClr val="6B4C8A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783080"/>
            <a:ext cx="365760" cy="365760"/>
          </a:xfrm>
          <a:prstGeom prst="ellipse">
            <a:avLst/>
          </a:prstGeom>
          <a:solidFill>
            <a:srgbClr val="6B4C8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the mood you can't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into words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417320"/>
            <a:ext cx="1554480" cy="2926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8"/>
          <p:cNvSpPr/>
          <p:nvPr/>
        </p:nvSpPr>
        <p:spPr>
          <a:xfrm>
            <a:off x="2331720" y="1417320"/>
            <a:ext cx="1554480" cy="73152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783080"/>
            <a:ext cx="365760" cy="365760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Zodiac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23160" y="2788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sign. Your line.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look.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1417320"/>
            <a:ext cx="1554480" cy="2926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Shape 13"/>
          <p:cNvSpPr/>
          <p:nvPr/>
        </p:nvSpPr>
        <p:spPr>
          <a:xfrm>
            <a:off x="4023360" y="1417320"/>
            <a:ext cx="1554480" cy="73152"/>
          </a:xfrm>
          <a:prstGeom prst="rect">
            <a:avLst/>
          </a:prstGeom>
          <a:solidFill>
            <a:srgbClr val="2B7596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1783080"/>
            <a:ext cx="365760" cy="365760"/>
          </a:xfrm>
          <a:prstGeom prst="ellipse">
            <a:avLst/>
          </a:prstGeom>
          <a:solidFill>
            <a:srgbClr val="2B759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2788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Characters, worlds, and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you can wear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1417320"/>
            <a:ext cx="1554480" cy="2926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0" y="1417320"/>
            <a:ext cx="1554480" cy="73152"/>
          </a:xfrm>
          <a:prstGeom prst="rect">
            <a:avLst/>
          </a:prstGeom>
          <a:solidFill>
            <a:srgbClr val="3A4A3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1783080"/>
            <a:ext cx="365760" cy="365760"/>
          </a:xfrm>
          <a:prstGeom prst="ellipse">
            <a:avLst/>
          </a:prstGeom>
          <a:solidFill>
            <a:srgbClr val="3A4A3F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06440" y="2788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Ambition, identity, and the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work-in-progress you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1417320"/>
            <a:ext cx="1554480" cy="2926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1417320"/>
            <a:ext cx="1554480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0" y="1783080"/>
            <a:ext cx="365760" cy="36576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0" y="2788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moving right now —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becomes noise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axis: Shop by Occasion  •  Gift Something Real  •  Graduation  •  Eid &amp; Ramadan  •  Birthday  •  Just Because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400800" cy="640080"/>
          </a:xfrm>
          <a:prstGeom prst="rect">
            <a:avLst/>
          </a:prstGeom>
          <a:solidFill>
            <a:srgbClr val="2B75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Collection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799 EGP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anchor — standard releases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315200" cy="640080"/>
          </a:xfrm>
          <a:prstGeom prst="rect">
            <a:avLst/>
          </a:prstGeom>
          <a:solidFill>
            <a:srgbClr val="6B4C8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Drop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899–999 EGP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441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artist collabs &amp; exclusive themes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Bundle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999–1,199 EGP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310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+ story card + gift wrap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5029200" cy="640080"/>
          </a:xfrm>
          <a:prstGeom prst="rect">
            <a:avLst/>
          </a:prstGeom>
          <a:solidFill>
            <a:srgbClr val="D4CFC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/ Test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649 EGP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4178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acquisition — test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FFF5E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994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649 EGP is a test price, not the brand anchor. All default communication uses 799 EGP. Never discount below 649.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HORO Stands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HORO Difference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Licensed graphic tees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Pop-culture / entertainment graphics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75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illustration + meaning-led themes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streetwear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Higher-priced statement pieces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75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T-shirt-first with reachable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Cheap, trend-driven generics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75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Originality + quality + cultural relevance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mall fashion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Mass-market basics, occasional graphics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75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Sharper identity, emotional specificity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streetwear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drops, hype-led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75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Theme-first discovery + gifting storytelling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&amp; Checkout Standards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Homepage: 8-Section Scroll Story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56232"/>
            <a:ext cx="274320" cy="2743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56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viewport, cinematic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274320" cy="2743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212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Text-only, names the problem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24328"/>
            <a:ext cx="274320" cy="2743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596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Vibes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5968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immersive cards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008376"/>
            <a:ext cx="274320" cy="2743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29809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Drop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29809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4-column product grid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392424"/>
            <a:ext cx="274320" cy="2743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3364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364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badges section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776472"/>
            <a:ext cx="274320" cy="2743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Stories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quotes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160520"/>
            <a:ext cx="274320" cy="2743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0" y="41330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Plan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68880" y="4133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journey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4544568"/>
            <a:ext cx="274320" cy="2743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" y="45171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468880" y="45171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your word" CTA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137160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1371600"/>
            <a:ext cx="3840480" cy="54864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Non-Negotiables</a:t>
            </a:r>
            <a:endParaRPr lang="en-US" sz="140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993392"/>
            <a:ext cx="182880" cy="18288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39496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checkout available</a:t>
            </a:r>
            <a:endParaRPr lang="en-US" sz="1000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313432"/>
            <a:ext cx="182880" cy="18288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39496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 visible upfront</a:t>
            </a:r>
            <a:endParaRPr lang="en-US" sz="100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633472"/>
            <a:ext cx="182880" cy="18288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39496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indicator (1 of 3)</a:t>
            </a:r>
            <a:endParaRPr lang="en-US" sz="1000" dirty="0"/>
          </a:p>
        </p:txBody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953512"/>
            <a:ext cx="182880" cy="18288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39496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as default payment</a:t>
            </a:r>
            <a:endParaRPr lang="en-US" sz="100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273552"/>
            <a:ext cx="182880" cy="18288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539496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incentive: Save 30 EGP</a:t>
            </a:r>
            <a:endParaRPr lang="en-US" sz="100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593592"/>
            <a:ext cx="182880" cy="18288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39496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order confirmation</a:t>
            </a:r>
            <a:endParaRPr lang="en-US" sz="100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913632"/>
            <a:ext cx="182880" cy="18288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539496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at every step</a:t>
            </a:r>
            <a:endParaRPr lang="en-US" sz="1000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4233672"/>
            <a:ext cx="182880" cy="18288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539496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policy on payment screen</a:t>
            </a:r>
            <a:endParaRPr lang="en-US" sz="1000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4553712"/>
            <a:ext cx="182880" cy="182880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539496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48px mobile touch targets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NARRATIVE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HORO Speaks as a Perceptive Friend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feelings the audience hasn't articulated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but Understated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shout or oversell — presents and lets you decide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48716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Culturally Grounded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Egyptian-English fluency; references feel native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94436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pretend to be luxury; speaks with practical truth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40156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Community-Minded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with people, not at them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977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Metaphor: Clothing as Language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297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CF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design is a word. Each theme is a grammar. The collection is a language. The customer is the speaker.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Filter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about any brand decision, apply these three tests in order: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2103120"/>
            <a:ext cx="685800" cy="68580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this help someone wear what they mean?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Stop.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103120"/>
            <a:ext cx="685800" cy="685800"/>
          </a:xfrm>
          <a:prstGeom prst="ellipse">
            <a:avLst/>
          </a:prstGeom>
          <a:solidFill>
            <a:srgbClr val="2B7596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clear, trustworthy, and honest?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7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Fix the trust gap.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2103120"/>
            <a:ext cx="685800" cy="685800"/>
          </a:xfrm>
          <a:prstGeom prst="ellipse">
            <a:avLst/>
          </a:prstGeom>
          <a:solidFill>
            <a:srgbClr val="6B4C8A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test it before committing?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Run a small experiment first.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1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HORO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3840480" y="2514600"/>
            <a:ext cx="1463040" cy="54864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 What You Mean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 v2.3  •  March 2026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4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and Partner Use Only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HORO Egypt — Brand Briefing for Stakeholders</dc:title>
  <dc:subject>PptxGenJS Presentation</dc:subject>
  <dc:creator>HORO Egypt</dc:creator>
  <cp:lastModifiedBy>HORO Egypt</cp:lastModifiedBy>
  <cp:revision>1</cp:revision>
  <dcterms:created xsi:type="dcterms:W3CDTF">2026-03-25T20:42:37Z</dcterms:created>
  <dcterms:modified xsi:type="dcterms:W3CDTF">2026-03-25T20:42:37Z</dcterms:modified>
</cp:coreProperties>
</file>